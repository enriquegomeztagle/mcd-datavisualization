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6630C-DA62-2F86-73EA-744EA4F90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4DA812-573B-F872-85F0-3BB5B9981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EE085E-B4EA-DAFB-28D9-65CD02AD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1DE554-CED8-E802-972F-CD3C970E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12D5BA-1FF3-D57A-670B-5029F3EF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79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F7F2D-6D32-F4C5-9F24-EE32F3F1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A2C85A-0146-BCB0-6995-333DA38A8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B183A4-9ACC-C1F9-C411-55C01A66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596E74-531C-6CC1-45C1-822F55A4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4ACAC8-B5EC-0737-07AF-3014E923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42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963BD-077A-1105-4623-F67991252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757259-497A-FF4B-0255-C7BE9ED8D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036436-7E41-DF3F-C272-BCE11E09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A4E1BE-0BB5-6774-E82F-FF71A7AD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ADEB8B-F7AC-020A-1B39-ED33CC7D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34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413E8-892A-D1D9-C39A-E5AC69F4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9D2260-1570-22E5-41F9-B59DEE9F5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B57831-2990-9211-B019-E9CC7321E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D835E1-82A8-217B-4670-95CE479C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05240F-32C7-5A7E-11DC-94DB7CF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AEB7CD-830C-F070-FA94-E2490E3F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1837E-10A9-937B-4871-FD24CA4E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BCD169-7B5B-3787-8AEE-032C32E2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9C1E39-529E-60CF-61B5-2F346D983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303FA1-8A90-EAA2-DEDA-57D0F3B0A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C13C0D-329E-4048-C18B-DB9834E28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23CF6F-DBFE-D5FF-8B23-926CE54B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84EBC4-7D38-055C-0513-DCE9DE67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9D9060-5CAB-F5C6-6BA6-382788DE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534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6BC01-D04D-6989-156B-D55783E0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E292D0-E869-7663-1333-83A0716A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66237E-20F1-36F4-D710-A6C8FA9B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26FDAC-9D7F-4B1C-C20F-BCC3101F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35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02FDB9-DEF4-A35B-B6CA-46E8E400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0C9FD64-82CE-A5EB-A705-CCE7FC5C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CDE6BC-8863-1D7C-6A10-EA264E3A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708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AC507-C86A-5429-A16B-4870B5D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F3BDC7-97FC-4B17-C859-C2BA1C07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B67148-863C-6389-4C4A-28924305C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EC8DF6-CAD4-E34A-7AB5-982A2F3A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557EE-42B5-9E01-675E-D7B99CF5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7ED103-E33D-09B0-0AA1-B2F0DC28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18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708E7-2737-FD60-64BC-B76B7FE9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953DDD1-0C32-2E4F-0CD8-C2A0157BB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3E136B-055C-DFFF-17E1-42C4B62A8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698FC4-4D02-4A1A-254E-9BA05EDA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19A0D0-2069-11D9-83D0-AEAC9821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9179CA-32FF-1D16-FD28-8E13049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07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76357-E1B0-B5FD-6993-70B94824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762BD4-84F4-EF98-89AE-08FC00B2D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DEE99-C1E6-480E-EA33-10A77FEF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23F71-90AA-9178-BB25-A510DF59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424736-E1AD-0B5E-956F-81B8DE46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72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F03734-A015-C647-D8D2-9F1C16421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D3A898-74E0-3563-FB88-1A8B6BC00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FC93FA-AE94-CB01-6588-7F669C5B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2935D8-5967-E704-444E-CFFBFBC2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A0FE79-9DB5-808A-A256-566E3FB1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822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638E64-B853-F63C-99A7-6421CE736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5E6852-3D8A-8657-1B41-3D3391A81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AE1B40-B74A-8E63-2F47-F6BABBA4A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08D70-35E2-4016-A735-09BD7688EB7C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DE1434-F783-36DA-8E90-2C1D3CED7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878D90-8837-42A5-0C77-646FB6E55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C5AB0-916F-4AC2-BDA8-95EDCDB5AE1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52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68E6AC8-C160-D510-3A3D-BC57DBDAE2B8}"/>
              </a:ext>
            </a:extLst>
          </p:cNvPr>
          <p:cNvSpPr txBox="1"/>
          <p:nvPr/>
        </p:nvSpPr>
        <p:spPr>
          <a:xfrm>
            <a:off x="-2874" y="0"/>
            <a:ext cx="12194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The Data Science Hero’s Journey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9A544B-86D8-C20F-5275-2E4A6A3A9459}"/>
              </a:ext>
            </a:extLst>
          </p:cNvPr>
          <p:cNvSpPr/>
          <p:nvPr/>
        </p:nvSpPr>
        <p:spPr>
          <a:xfrm>
            <a:off x="0" y="645378"/>
            <a:ext cx="12192000" cy="1477328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98CB22E-82C7-28CE-B5EA-D42C5827587C}"/>
              </a:ext>
            </a:extLst>
          </p:cNvPr>
          <p:cNvSpPr/>
          <p:nvPr/>
        </p:nvSpPr>
        <p:spPr>
          <a:xfrm>
            <a:off x="0" y="2122706"/>
            <a:ext cx="12192000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4EB931D-8021-0B3A-75BD-202A0B831789}"/>
              </a:ext>
            </a:extLst>
          </p:cNvPr>
          <p:cNvSpPr/>
          <p:nvPr/>
        </p:nvSpPr>
        <p:spPr>
          <a:xfrm>
            <a:off x="-2874" y="2122706"/>
            <a:ext cx="6097437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067C626-C560-FAA8-C32E-ECFC10051935}"/>
              </a:ext>
            </a:extLst>
          </p:cNvPr>
          <p:cNvSpPr/>
          <p:nvPr/>
        </p:nvSpPr>
        <p:spPr>
          <a:xfrm>
            <a:off x="1" y="2122706"/>
            <a:ext cx="3071003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B4489F5-889E-2521-9C91-04DAFCA2BBB0}"/>
              </a:ext>
            </a:extLst>
          </p:cNvPr>
          <p:cNvSpPr/>
          <p:nvPr/>
        </p:nvSpPr>
        <p:spPr>
          <a:xfrm>
            <a:off x="6094563" y="2122706"/>
            <a:ext cx="6097437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72143A-2DC2-F79C-8591-ADE561F61B63}"/>
              </a:ext>
            </a:extLst>
          </p:cNvPr>
          <p:cNvSpPr/>
          <p:nvPr/>
        </p:nvSpPr>
        <p:spPr>
          <a:xfrm>
            <a:off x="6097438" y="2122706"/>
            <a:ext cx="3071003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3CC5A34-A744-0DDA-248F-4D95F8B7A9E7}"/>
              </a:ext>
            </a:extLst>
          </p:cNvPr>
          <p:cNvSpPr txBox="1"/>
          <p:nvPr/>
        </p:nvSpPr>
        <p:spPr>
          <a:xfrm>
            <a:off x="5749" y="645378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Overview:</a:t>
            </a:r>
          </a:p>
          <a:p>
            <a:pPr algn="just"/>
            <a:r>
              <a:rPr lang="en-US" dirty="0"/>
              <a:t>In this assignment, you will reflect on your journey in data science by applying the </a:t>
            </a:r>
            <a:r>
              <a:rPr lang="en-US" b="1" dirty="0"/>
              <a:t>Hero’s Journey framework</a:t>
            </a:r>
            <a:r>
              <a:rPr lang="en-US" dirty="0"/>
              <a:t> alongside </a:t>
            </a:r>
            <a:r>
              <a:rPr lang="en-US" b="1" dirty="0"/>
              <a:t>Intentional Change Theory (ICT), the </a:t>
            </a:r>
            <a:r>
              <a:rPr lang="en-US" b="1" dirty="0" err="1"/>
              <a:t>Cynefin</a:t>
            </a:r>
            <a:r>
              <a:rPr lang="en-US" b="1" dirty="0"/>
              <a:t> framework, and Chain of Thought reasoning.</a:t>
            </a:r>
            <a:r>
              <a:rPr lang="en-US" dirty="0"/>
              <a:t> You will identify key moments of transformation, decision-making, and personal growth. The final deliverable will be a </a:t>
            </a:r>
            <a:r>
              <a:rPr lang="en-US" b="1" dirty="0"/>
              <a:t>2-minute recorded video</a:t>
            </a:r>
            <a:r>
              <a:rPr lang="en-US" dirty="0"/>
              <a:t> where you present your Data Science Hero’s Journey.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067DC05-37D6-3621-1036-015DC69A0CA5}"/>
              </a:ext>
            </a:extLst>
          </p:cNvPr>
          <p:cNvSpPr/>
          <p:nvPr/>
        </p:nvSpPr>
        <p:spPr>
          <a:xfrm>
            <a:off x="-5749" y="2122705"/>
            <a:ext cx="12192000" cy="2397537"/>
          </a:xfrm>
          <a:prstGeom prst="rect">
            <a:avLst/>
          </a:prstGeom>
          <a:noFill/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DFED194-490C-8B80-253F-095D8F45E46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39130" y="0"/>
            <a:ext cx="674805" cy="64633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BF28EAC-64AA-2A49-4C78-C8AC66F674F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8065" y="18034"/>
            <a:ext cx="716963" cy="627343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3122FE4D-115C-7F48-442A-A10C04E56D5E}"/>
              </a:ext>
            </a:extLst>
          </p:cNvPr>
          <p:cNvSpPr txBox="1"/>
          <p:nvPr/>
        </p:nvSpPr>
        <p:spPr>
          <a:xfrm>
            <a:off x="5748" y="2121752"/>
            <a:ext cx="306525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1. The Ordinary World – Your Starting Point</a:t>
            </a:r>
          </a:p>
          <a:p>
            <a:pPr algn="just">
              <a:buNone/>
            </a:pPr>
            <a:endParaRPr lang="en-US" sz="800" b="1" dirty="0"/>
          </a:p>
          <a:p>
            <a:pPr algn="just">
              <a:buNone/>
            </a:pPr>
            <a:r>
              <a:rPr lang="en-US" sz="800" b="1" dirty="0"/>
              <a:t>Objective:</a:t>
            </a:r>
            <a:r>
              <a:rPr lang="en-US" sz="800" dirty="0"/>
              <a:t> Define where you were before starting your data science journey.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Task:</a:t>
            </a:r>
            <a:r>
              <a:rPr lang="en-US" sz="800" dirty="0"/>
              <a:t> Write a brief description of your life before data science.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Guiding Questions:</a:t>
            </a:r>
            <a:endParaRPr lang="en-US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What was your background (academic, professional, personal)?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What did you think data science was before you started?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Did you have any misconceptions or doubts?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Example:</a:t>
            </a:r>
            <a:r>
              <a:rPr lang="en-US" sz="800" dirty="0"/>
              <a:t> </a:t>
            </a:r>
            <a:r>
              <a:rPr lang="en-US" sz="800" i="1" dirty="0"/>
              <a:t>“I was working in finance, but I kept hearing about ‘machine learning’ and ‘big data.’ I assumed it was just another buzzword and didn’t see how it applied to my work.”</a:t>
            </a:r>
            <a:endParaRPr lang="en-US" sz="8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B716A3B-AA03-B9CA-B6D1-FD136304625A}"/>
              </a:ext>
            </a:extLst>
          </p:cNvPr>
          <p:cNvSpPr txBox="1"/>
          <p:nvPr/>
        </p:nvSpPr>
        <p:spPr>
          <a:xfrm>
            <a:off x="3071004" y="2121752"/>
            <a:ext cx="301781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2. The Call to Adventure – Why Did You Start in Data Science?</a:t>
            </a:r>
          </a:p>
          <a:p>
            <a:pPr algn="just">
              <a:buNone/>
            </a:pPr>
            <a:endParaRPr lang="en-US" sz="800" b="1" dirty="0"/>
          </a:p>
          <a:p>
            <a:pPr algn="just">
              <a:buNone/>
            </a:pPr>
            <a:r>
              <a:rPr lang="en-US" sz="800" b="1" dirty="0"/>
              <a:t>Objective:</a:t>
            </a:r>
            <a:r>
              <a:rPr lang="en-US" sz="800" dirty="0"/>
              <a:t> Identify the moment you decided to enter the field.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Task:</a:t>
            </a:r>
            <a:r>
              <a:rPr lang="en-US" sz="800" dirty="0"/>
              <a:t> Describe what sparked your interest in data science.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Guiding Questions:</a:t>
            </a:r>
            <a:endParaRPr lang="en-US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Was there a defining moment or event that made you take data science seriously?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Did a person, course, or real-world event inspire you?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What were your initial goals?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Example:</a:t>
            </a:r>
            <a:r>
              <a:rPr lang="en-US" sz="800" dirty="0"/>
              <a:t> </a:t>
            </a:r>
            <a:r>
              <a:rPr lang="en-US" sz="800" i="1" dirty="0"/>
              <a:t>“I took an online Python course for fun and was shocked at how I could analyze massive datasets. That’s when I realized data science could change my career path.”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ICT Connection:</a:t>
            </a:r>
            <a:r>
              <a:rPr lang="en-US" sz="800" dirty="0"/>
              <a:t> What was your </a:t>
            </a:r>
            <a:r>
              <a:rPr lang="en-US" sz="800" b="1" dirty="0"/>
              <a:t>Ideal Self vs. Real Self</a:t>
            </a:r>
            <a:r>
              <a:rPr lang="en-US" sz="800" dirty="0"/>
              <a:t> at this moment?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 err="1"/>
              <a:t>Cynefin</a:t>
            </a:r>
            <a:r>
              <a:rPr lang="en-US" sz="800" b="1" dirty="0"/>
              <a:t> Connection:</a:t>
            </a:r>
            <a:r>
              <a:rPr lang="en-US" sz="800" dirty="0"/>
              <a:t> Did this decision feel </a:t>
            </a:r>
            <a:r>
              <a:rPr lang="en-US" sz="800" b="1" dirty="0"/>
              <a:t>Obvious, Complicated, Complex, or Chaotic?</a:t>
            </a:r>
            <a:endParaRPr lang="en-US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AF1578F-0C72-EF45-B772-DCC5C3F198E6}"/>
              </a:ext>
            </a:extLst>
          </p:cNvPr>
          <p:cNvSpPr txBox="1"/>
          <p:nvPr/>
        </p:nvSpPr>
        <p:spPr>
          <a:xfrm>
            <a:off x="6103188" y="2121751"/>
            <a:ext cx="307100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3. Crossing the Threshold – Your First Major Challenge</a:t>
            </a:r>
          </a:p>
          <a:p>
            <a:pPr algn="just">
              <a:buNone/>
            </a:pPr>
            <a:endParaRPr lang="en-US" sz="800" b="1" dirty="0"/>
          </a:p>
          <a:p>
            <a:pPr algn="just">
              <a:buNone/>
            </a:pPr>
            <a:r>
              <a:rPr lang="en-US" sz="800" b="1" dirty="0"/>
              <a:t>Objective:</a:t>
            </a:r>
            <a:r>
              <a:rPr lang="en-US" sz="800" dirty="0"/>
              <a:t> Describe a pivotal moment where you faced a major challenge.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Task:</a:t>
            </a:r>
            <a:r>
              <a:rPr lang="en-US" sz="800" dirty="0"/>
              <a:t> Reflect on the first significant roadblock you encountered.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Guiding Questions:</a:t>
            </a:r>
            <a:endParaRPr lang="en-US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What was the first time you seriously struggled with a data science concept or tool?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Did you consider giving up? How did you push through?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Who or what helped you move forward?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Example:</a:t>
            </a:r>
            <a:r>
              <a:rPr lang="en-US" sz="800" dirty="0"/>
              <a:t> </a:t>
            </a:r>
            <a:r>
              <a:rPr lang="en-US" sz="800" i="1" dirty="0"/>
              <a:t>“The first time I tried to build a machine learning model, I had no idea what hyperparameters were. I felt completely lost and questioned if I was smart enough for this field.”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ICT Connection:</a:t>
            </a:r>
            <a:r>
              <a:rPr lang="en-US" sz="800" dirty="0"/>
              <a:t> How did this challenge force you to change your learning approach?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 err="1"/>
              <a:t>Cynefin</a:t>
            </a:r>
            <a:r>
              <a:rPr lang="en-US" sz="800" b="1" dirty="0"/>
              <a:t> Connection:</a:t>
            </a:r>
            <a:r>
              <a:rPr lang="en-US" sz="800" dirty="0"/>
              <a:t> Did you misclassify the problem at first? Was it more complex than you expected?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DF5FD44-5F8D-0879-0694-CCDDAB444396}"/>
              </a:ext>
            </a:extLst>
          </p:cNvPr>
          <p:cNvSpPr txBox="1"/>
          <p:nvPr/>
        </p:nvSpPr>
        <p:spPr>
          <a:xfrm>
            <a:off x="9154069" y="2120669"/>
            <a:ext cx="301781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4. Tests, Allies, and Enemies – Learning Under Uncertainty</a:t>
            </a:r>
          </a:p>
          <a:p>
            <a:pPr algn="just">
              <a:buNone/>
            </a:pPr>
            <a:endParaRPr lang="en-US" sz="800" b="1" dirty="0"/>
          </a:p>
          <a:p>
            <a:pPr algn="just">
              <a:buNone/>
            </a:pPr>
            <a:r>
              <a:rPr lang="en-US" sz="800" b="1" dirty="0"/>
              <a:t>Objective:</a:t>
            </a:r>
            <a:r>
              <a:rPr lang="en-US" sz="800" dirty="0"/>
              <a:t> Explore how you navigated uncertainty and the role of allies and obstacles.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Task:</a:t>
            </a:r>
            <a:r>
              <a:rPr lang="en-US" sz="800" dirty="0"/>
              <a:t> Identify a time when you had to deal with </a:t>
            </a:r>
            <a:r>
              <a:rPr lang="en-US" sz="800" b="1" dirty="0"/>
              <a:t>messy data, misleading insights, or team collaboration challenges.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Guiding Questions:</a:t>
            </a:r>
            <a:endParaRPr lang="en-US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How did you handle a real-world dataset?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Who or what acted as an “ally” (mentors, books, courses, communities)?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Who or what acted as an “enemy” (bias in data, poor documentation, misleading results)?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Example:</a:t>
            </a:r>
            <a:r>
              <a:rPr lang="en-US" sz="800" dirty="0"/>
              <a:t> </a:t>
            </a:r>
            <a:r>
              <a:rPr lang="en-US" sz="800" i="1" dirty="0"/>
              <a:t>“I joined a Kaggle competition, but the dataset was so incomplete that I didn’t know where to start. A mentor helped me realize that even ‘bad’ data has insights.”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 err="1"/>
              <a:t>Cynefin</a:t>
            </a:r>
            <a:r>
              <a:rPr lang="en-US" sz="800" b="1" dirty="0"/>
              <a:t> Connection:</a:t>
            </a:r>
            <a:r>
              <a:rPr lang="en-US" sz="800" dirty="0"/>
              <a:t> Was the challenge </a:t>
            </a:r>
            <a:r>
              <a:rPr lang="en-US" sz="800" b="1" dirty="0"/>
              <a:t>Complicated or Complex?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Chain of Thought:</a:t>
            </a:r>
            <a:r>
              <a:rPr lang="en-US" sz="800" dirty="0"/>
              <a:t> Could you break down the problem to find a solution?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EDD0CAD-081F-8E08-B615-CF9A50C6B083}"/>
              </a:ext>
            </a:extLst>
          </p:cNvPr>
          <p:cNvSpPr txBox="1"/>
          <p:nvPr/>
        </p:nvSpPr>
        <p:spPr>
          <a:xfrm>
            <a:off x="0" y="4517596"/>
            <a:ext cx="309112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5. The Abyss – Facing an Existential or Ethical Crisis</a:t>
            </a:r>
          </a:p>
          <a:p>
            <a:pPr algn="just">
              <a:buNone/>
            </a:pPr>
            <a:endParaRPr lang="en-US" sz="800" b="1" dirty="0"/>
          </a:p>
          <a:p>
            <a:pPr algn="just">
              <a:buNone/>
            </a:pPr>
            <a:r>
              <a:rPr lang="en-US" sz="800" b="1" dirty="0"/>
              <a:t>Objective:</a:t>
            </a:r>
            <a:r>
              <a:rPr lang="en-US" sz="800" dirty="0"/>
              <a:t> Reflect on a time when you questioned your path or faced an ethical dilemma.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Task:</a:t>
            </a:r>
            <a:r>
              <a:rPr lang="en-US" sz="800" dirty="0"/>
              <a:t> Identify a moment when you seriously doubted yourself or encountered an ethical issue in data science.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Guiding Questions:</a:t>
            </a:r>
            <a:endParaRPr lang="en-US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Did you experience impostor syndrome? How did you overcome it?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Have you encountered an ethical problem in AI, machine learning, or data analysis?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Example:</a:t>
            </a:r>
            <a:r>
              <a:rPr lang="en-US" sz="800" dirty="0"/>
              <a:t> </a:t>
            </a:r>
            <a:r>
              <a:rPr lang="en-US" sz="800" i="1" dirty="0"/>
              <a:t>“I discovered that a model I built had an unintended gender bias. I felt responsible but wasn’t sure how to fix it.”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ICT Connection:</a:t>
            </a:r>
            <a:r>
              <a:rPr lang="en-US" sz="800" dirty="0"/>
              <a:t> How did this crisis redefine your personal and professional goals?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 err="1"/>
              <a:t>Cynefin</a:t>
            </a:r>
            <a:r>
              <a:rPr lang="en-US" sz="800" b="1" dirty="0"/>
              <a:t> Connection:</a:t>
            </a:r>
            <a:r>
              <a:rPr lang="en-US" sz="800" dirty="0"/>
              <a:t> Did the problem seem chaotic at first? How did you bring it to a manageable level?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Chain of Thought:</a:t>
            </a:r>
            <a:r>
              <a:rPr lang="en-US" sz="800" dirty="0"/>
              <a:t> Write out the </a:t>
            </a:r>
            <a:r>
              <a:rPr lang="en-US" sz="800" b="1" dirty="0"/>
              <a:t>step-by-step reasoning</a:t>
            </a:r>
            <a:r>
              <a:rPr lang="en-US" sz="800" dirty="0"/>
              <a:t> you followed to resolve the issue.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EB0FE7D-136C-002D-0787-ECBD7484EC47}"/>
              </a:ext>
            </a:extLst>
          </p:cNvPr>
          <p:cNvSpPr txBox="1"/>
          <p:nvPr/>
        </p:nvSpPr>
        <p:spPr>
          <a:xfrm>
            <a:off x="3064531" y="4517595"/>
            <a:ext cx="300991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 6. The Transformation – Emerging with New Skills and Knowledge</a:t>
            </a:r>
          </a:p>
          <a:p>
            <a:pPr algn="just">
              <a:buNone/>
            </a:pPr>
            <a:endParaRPr lang="en-US" sz="800" b="1" dirty="0"/>
          </a:p>
          <a:p>
            <a:pPr algn="just">
              <a:buNone/>
            </a:pPr>
            <a:r>
              <a:rPr lang="en-US" sz="800" b="1" dirty="0"/>
              <a:t>Objective:</a:t>
            </a:r>
            <a:r>
              <a:rPr lang="en-US" sz="800" dirty="0"/>
              <a:t> Describe how you overcame challenges and transformed your approach to data science.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Task:</a:t>
            </a:r>
            <a:r>
              <a:rPr lang="en-US" sz="800" dirty="0"/>
              <a:t> Identify how you changed after experiencing obstacles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Guiding Questions:</a:t>
            </a:r>
            <a:endParaRPr lang="en-US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What major technical or mindset shift did you experience?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How did your approach to problem-solving evolve?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800" dirty="0"/>
              <a:t>What skills or habits do you now rely on that you didn’t before?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Example:</a:t>
            </a:r>
            <a:r>
              <a:rPr lang="en-US" sz="800" dirty="0"/>
              <a:t> </a:t>
            </a:r>
            <a:r>
              <a:rPr lang="en-US" sz="800" i="1" dirty="0"/>
              <a:t>“I used to rush into coding without planning. Now, I take time to frame the problem before touching the keyboard.”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ICT Connection:</a:t>
            </a:r>
            <a:r>
              <a:rPr lang="en-US" sz="800" dirty="0"/>
              <a:t> How has your </a:t>
            </a:r>
            <a:r>
              <a:rPr lang="en-US" sz="800" b="1" dirty="0"/>
              <a:t>Real Self evolved closer to your Ideal Self?</a:t>
            </a:r>
            <a:endParaRPr lang="en-US" sz="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00" b="1" dirty="0"/>
              <a:t>Chain of Thought:</a:t>
            </a:r>
            <a:r>
              <a:rPr lang="en-US" sz="800" dirty="0"/>
              <a:t> What steps did you take to reach this transformation?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027E4A5A-F8CE-75FA-312B-850E6047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1569" y="4517595"/>
            <a:ext cx="30796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7. The Return with the Elixir – Applying Knowledge for the Future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800" b="1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Objective: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Define your future trajectory in data science and how you will apply what you've learned.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Task: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Create a roadmap for your next steps in data science.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Guiding Questions:</a:t>
            </a:r>
            <a:endParaRPr kumimoji="0" lang="en-GB" sz="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1" indent="-28575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W</a:t>
            </a:r>
            <a:r>
              <a:rPr lang="en-GB" sz="800" noProof="1"/>
              <a:t>hat challenges do you anticipate in the future?</a:t>
            </a:r>
          </a:p>
          <a:p>
            <a:pPr marL="285750" marR="0" lvl="1" indent="-28575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800" noProof="1"/>
              <a:t>How will you use your past experiences to navigate new obstacles?</a:t>
            </a:r>
          </a:p>
          <a:p>
            <a:pPr marL="285750" marR="0" lvl="1" indent="-28575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800" noProof="1"/>
              <a:t>What is your next major goal in data science?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sz="800" b="0" i="1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“I want to specialize in ethical AI and ensure that the models I build are fair and transparent.”</a:t>
            </a:r>
            <a:endParaRPr kumimoji="0" lang="en-GB" sz="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ICT Connection: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Identify what </a:t>
            </a: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sustained change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means for you.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Cynefin Connection: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How will you apply your understanding of complexity to future problems?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Chain of Thought: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Create a </a:t>
            </a: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goal-oriented reasoning path</a:t>
            </a:r>
            <a:r>
              <a:rPr kumimoji="0" lang="en-GB" sz="8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 for your next learning steps.</a:t>
            </a: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B362B69F-B58F-4F34-0D3C-0E7D7E225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D200E1E-66EA-C551-4A70-C250B68427A7}"/>
              </a:ext>
            </a:extLst>
          </p:cNvPr>
          <p:cNvSpPr txBox="1"/>
          <p:nvPr/>
        </p:nvSpPr>
        <p:spPr>
          <a:xfrm>
            <a:off x="9134197" y="4552104"/>
            <a:ext cx="305205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1" dirty="0"/>
              <a:t>Final Deliverable – 2-Minute Reflection Video</a:t>
            </a:r>
          </a:p>
          <a:p>
            <a:pPr>
              <a:buNone/>
            </a:pPr>
            <a:endParaRPr lang="en-US" sz="800" b="1" dirty="0"/>
          </a:p>
          <a:p>
            <a:pPr>
              <a:buNone/>
            </a:pPr>
            <a:r>
              <a:rPr lang="en-US" sz="800" dirty="0"/>
              <a:t>After completing the written reflection, record a </a:t>
            </a:r>
            <a:r>
              <a:rPr lang="en-US" sz="800" b="1" dirty="0"/>
              <a:t>2-minute video</a:t>
            </a:r>
            <a:r>
              <a:rPr lang="en-US" sz="800" dirty="0"/>
              <a:t> summarizing your Data Science Hero’s Journey. Your video should: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Highlight key moments from each stage.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Explain how </a:t>
            </a:r>
            <a:r>
              <a:rPr lang="en-US" sz="800" b="1" dirty="0"/>
              <a:t>ICT, </a:t>
            </a:r>
            <a:r>
              <a:rPr lang="en-US" sz="800" b="1" dirty="0" err="1"/>
              <a:t>Cynefin</a:t>
            </a:r>
            <a:r>
              <a:rPr lang="en-US" sz="800" b="1" dirty="0"/>
              <a:t>, and Chain of Thought</a:t>
            </a:r>
            <a:r>
              <a:rPr lang="en-US" sz="800" dirty="0"/>
              <a:t> influenced your decision-making.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Conclude with how you plan to continue your journey in data science.</a:t>
            </a:r>
          </a:p>
          <a:p>
            <a:endParaRPr lang="en-US" sz="800" dirty="0"/>
          </a:p>
          <a:p>
            <a:r>
              <a:rPr lang="en-US" sz="800" b="1" dirty="0"/>
              <a:t>Submission Format:</a:t>
            </a:r>
            <a:r>
              <a:rPr lang="en-US" sz="800" dirty="0"/>
              <a:t> Upload both your written reflection and video.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0A30ED46-CEBB-38A7-2CB8-F110D9EEF3C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3935" y="6244875"/>
            <a:ext cx="342090" cy="421034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2673B1DB-7172-E077-C12C-66DC186CB37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45004" y="6244875"/>
            <a:ext cx="523071" cy="41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3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50F0-A152-3BFD-C0B0-D2BF6258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F300546-3035-97FD-0B70-998EF4FF9050}"/>
              </a:ext>
            </a:extLst>
          </p:cNvPr>
          <p:cNvSpPr txBox="1"/>
          <p:nvPr/>
        </p:nvSpPr>
        <p:spPr>
          <a:xfrm>
            <a:off x="-2874" y="0"/>
            <a:ext cx="12194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The Data Science Hero’s Journey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B2C246-5548-2AA5-3FEE-355670627290}"/>
              </a:ext>
            </a:extLst>
          </p:cNvPr>
          <p:cNvSpPr/>
          <p:nvPr/>
        </p:nvSpPr>
        <p:spPr>
          <a:xfrm>
            <a:off x="0" y="645378"/>
            <a:ext cx="12192000" cy="1477328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8791C0-29B8-FEF5-7F4B-5C6471DF01B3}"/>
              </a:ext>
            </a:extLst>
          </p:cNvPr>
          <p:cNvSpPr/>
          <p:nvPr/>
        </p:nvSpPr>
        <p:spPr>
          <a:xfrm>
            <a:off x="0" y="2122706"/>
            <a:ext cx="12192000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4D8EF75-E913-B31A-3B0D-2A85C387098D}"/>
              </a:ext>
            </a:extLst>
          </p:cNvPr>
          <p:cNvSpPr/>
          <p:nvPr/>
        </p:nvSpPr>
        <p:spPr>
          <a:xfrm>
            <a:off x="-2874" y="2122706"/>
            <a:ext cx="6097437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B7D209-C95B-AD53-483E-C37327B25AB9}"/>
              </a:ext>
            </a:extLst>
          </p:cNvPr>
          <p:cNvSpPr/>
          <p:nvPr/>
        </p:nvSpPr>
        <p:spPr>
          <a:xfrm>
            <a:off x="1" y="2122706"/>
            <a:ext cx="3071003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BC3040-9B6B-C81A-243C-70CF95F77660}"/>
              </a:ext>
            </a:extLst>
          </p:cNvPr>
          <p:cNvSpPr/>
          <p:nvPr/>
        </p:nvSpPr>
        <p:spPr>
          <a:xfrm>
            <a:off x="6094563" y="2122706"/>
            <a:ext cx="6097437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6F88816-BF41-287C-89DF-A9D391968A9F}"/>
              </a:ext>
            </a:extLst>
          </p:cNvPr>
          <p:cNvSpPr/>
          <p:nvPr/>
        </p:nvSpPr>
        <p:spPr>
          <a:xfrm>
            <a:off x="6097438" y="2122706"/>
            <a:ext cx="3071003" cy="4735294"/>
          </a:xfrm>
          <a:prstGeom prst="rect">
            <a:avLst/>
          </a:prstGeom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9FEEEEB-1A5F-D78B-3A39-8A75AA90F265}"/>
              </a:ext>
            </a:extLst>
          </p:cNvPr>
          <p:cNvSpPr txBox="1"/>
          <p:nvPr/>
        </p:nvSpPr>
        <p:spPr>
          <a:xfrm>
            <a:off x="5749" y="645378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Overview:</a:t>
            </a:r>
          </a:p>
          <a:p>
            <a:pPr algn="just"/>
            <a:r>
              <a:rPr lang="en-US" dirty="0"/>
              <a:t>In this assignment, you will reflect on your journey in data science by applying the </a:t>
            </a:r>
            <a:r>
              <a:rPr lang="en-US" b="1" dirty="0"/>
              <a:t>Hero’s Journey framework</a:t>
            </a:r>
            <a:r>
              <a:rPr lang="en-US" dirty="0"/>
              <a:t> alongside </a:t>
            </a:r>
            <a:r>
              <a:rPr lang="en-US" b="1" dirty="0"/>
              <a:t>Intentional Change Theory (ICT), the </a:t>
            </a:r>
            <a:r>
              <a:rPr lang="en-US" b="1" dirty="0" err="1"/>
              <a:t>Cynefin</a:t>
            </a:r>
            <a:r>
              <a:rPr lang="en-US" b="1" dirty="0"/>
              <a:t> framework, and Chain of Thought reasoning.</a:t>
            </a:r>
            <a:r>
              <a:rPr lang="en-US" dirty="0"/>
              <a:t> You will identify key moments of transformation, decision-making, and personal growth. The final deliverable will be a </a:t>
            </a:r>
            <a:r>
              <a:rPr lang="en-US" b="1" dirty="0"/>
              <a:t>2-minute recorded video</a:t>
            </a:r>
            <a:r>
              <a:rPr lang="en-US" dirty="0"/>
              <a:t> where you present your Data Science Hero’s Journey.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D6D07AD-791B-2211-E147-ECDFBC52ACB3}"/>
              </a:ext>
            </a:extLst>
          </p:cNvPr>
          <p:cNvSpPr/>
          <p:nvPr/>
        </p:nvSpPr>
        <p:spPr>
          <a:xfrm>
            <a:off x="-5749" y="2122705"/>
            <a:ext cx="12192000" cy="2397537"/>
          </a:xfrm>
          <a:prstGeom prst="rect">
            <a:avLst/>
          </a:prstGeom>
          <a:noFill/>
          <a:ln w="63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F602C64-62D0-1832-5E90-90AE164A0EF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39130" y="0"/>
            <a:ext cx="674805" cy="64633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F1897AC-F365-294C-D392-8E86AB27A0C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8065" y="18034"/>
            <a:ext cx="716963" cy="627343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976783B0-44F1-13DF-BF45-5091BE07D82F}"/>
              </a:ext>
            </a:extLst>
          </p:cNvPr>
          <p:cNvSpPr txBox="1"/>
          <p:nvPr/>
        </p:nvSpPr>
        <p:spPr>
          <a:xfrm>
            <a:off x="5748" y="2121752"/>
            <a:ext cx="30652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1. The Ordinary World – Your Starting Point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BF0D5FA-4890-B3E5-119E-1DB2292F1929}"/>
              </a:ext>
            </a:extLst>
          </p:cNvPr>
          <p:cNvSpPr txBox="1"/>
          <p:nvPr/>
        </p:nvSpPr>
        <p:spPr>
          <a:xfrm>
            <a:off x="3071004" y="2121752"/>
            <a:ext cx="30178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2. The Call to Adventure – Why Did You Start in Data Science?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EA51FF1-500E-249A-5CE6-96866AC0033A}"/>
              </a:ext>
            </a:extLst>
          </p:cNvPr>
          <p:cNvSpPr txBox="1"/>
          <p:nvPr/>
        </p:nvSpPr>
        <p:spPr>
          <a:xfrm>
            <a:off x="6103188" y="2121751"/>
            <a:ext cx="30710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3. Crossing the Threshold – Your First Major Challenge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D5D79C7-E01B-34FC-B35B-EDA25709F690}"/>
              </a:ext>
            </a:extLst>
          </p:cNvPr>
          <p:cNvSpPr txBox="1"/>
          <p:nvPr/>
        </p:nvSpPr>
        <p:spPr>
          <a:xfrm>
            <a:off x="9154069" y="2120669"/>
            <a:ext cx="30178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4. Tests, Allies, and Enemies – Learning Under Uncertainty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E81D740-A345-C7B7-8036-8C9553D3A2EE}"/>
              </a:ext>
            </a:extLst>
          </p:cNvPr>
          <p:cNvSpPr txBox="1"/>
          <p:nvPr/>
        </p:nvSpPr>
        <p:spPr>
          <a:xfrm>
            <a:off x="0" y="4517596"/>
            <a:ext cx="30911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5. The Abyss – Facing an Existential or Ethical Crisis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CCAFB7-3FC7-23DB-2209-A3A5DBCEB304}"/>
              </a:ext>
            </a:extLst>
          </p:cNvPr>
          <p:cNvSpPr txBox="1"/>
          <p:nvPr/>
        </p:nvSpPr>
        <p:spPr>
          <a:xfrm>
            <a:off x="3064531" y="4517595"/>
            <a:ext cx="3009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800" b="1" dirty="0"/>
              <a:t> 6. The Transformation – Emerging with New Skills and Knowledge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86BC523B-6E32-7BEB-17C3-7AA6D35E4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469" y="4517595"/>
            <a:ext cx="3079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</a:rPr>
              <a:t>7. The Return with the Elixir – Applying Knowledge for the Future</a:t>
            </a: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CF74AE61-9442-0047-49B1-A3F1FC690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03D8538-D69C-AFE3-0AB8-B0EFE0798698}"/>
              </a:ext>
            </a:extLst>
          </p:cNvPr>
          <p:cNvSpPr txBox="1"/>
          <p:nvPr/>
        </p:nvSpPr>
        <p:spPr>
          <a:xfrm>
            <a:off x="9134197" y="4552104"/>
            <a:ext cx="305205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1" dirty="0"/>
              <a:t>Final Deliverable – 2-Minute Reflection Video</a:t>
            </a:r>
          </a:p>
          <a:p>
            <a:pPr>
              <a:buNone/>
            </a:pPr>
            <a:endParaRPr lang="en-US" sz="800" b="1" dirty="0"/>
          </a:p>
          <a:p>
            <a:pPr>
              <a:buNone/>
            </a:pPr>
            <a:r>
              <a:rPr lang="en-US" sz="800" dirty="0"/>
              <a:t>After completing the written reflection, record a </a:t>
            </a:r>
            <a:r>
              <a:rPr lang="en-US" sz="800" b="1" dirty="0"/>
              <a:t>2-minute video</a:t>
            </a:r>
            <a:r>
              <a:rPr lang="en-US" sz="800" dirty="0"/>
              <a:t> summarizing your Data Science Hero’s Journey. Your video should: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Highlight key moments from each stage.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Explain how </a:t>
            </a:r>
            <a:r>
              <a:rPr lang="en-US" sz="800" b="1" dirty="0"/>
              <a:t>ICT, </a:t>
            </a:r>
            <a:r>
              <a:rPr lang="en-US" sz="800" b="1" dirty="0" err="1"/>
              <a:t>Cynefin</a:t>
            </a:r>
            <a:r>
              <a:rPr lang="en-US" sz="800" b="1" dirty="0"/>
              <a:t>, and Chain of Thought</a:t>
            </a:r>
            <a:r>
              <a:rPr lang="en-US" sz="800" dirty="0"/>
              <a:t> influenced your decision-making.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Conclude with how you plan to continue your journey in data science.</a:t>
            </a:r>
          </a:p>
          <a:p>
            <a:endParaRPr lang="en-US" sz="800" dirty="0"/>
          </a:p>
          <a:p>
            <a:r>
              <a:rPr lang="en-US" sz="800" b="1" dirty="0"/>
              <a:t>Submission Format:</a:t>
            </a:r>
            <a:r>
              <a:rPr lang="en-US" sz="800" dirty="0"/>
              <a:t> Upload both your written reflection and video.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8C427CEE-A7B3-B390-FB5F-87F34D0B2A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3935" y="6244875"/>
            <a:ext cx="342090" cy="421034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A985C1E0-F898-1933-6D44-27A76694E20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45004" y="6244875"/>
            <a:ext cx="523071" cy="41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90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1352</Words>
  <Application>Microsoft Office PowerPoint</Application>
  <PresentationFormat>Panorámica</PresentationFormat>
  <Paragraphs>105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Avalos Gauna</dc:creator>
  <cp:lastModifiedBy>Edgar Avalos Gauna</cp:lastModifiedBy>
  <cp:revision>6</cp:revision>
  <dcterms:created xsi:type="dcterms:W3CDTF">2025-04-02T00:11:06Z</dcterms:created>
  <dcterms:modified xsi:type="dcterms:W3CDTF">2025-04-02T00:40:48Z</dcterms:modified>
</cp:coreProperties>
</file>