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Albert Sans"/>
      <p:regular r:id="rId21"/>
      <p:bold r:id="rId22"/>
      <p:italic r:id="rId23"/>
      <p:boldItalic r:id="rId24"/>
    </p:embeddedFont>
    <p:embeddedFont>
      <p:font typeface="Goldman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K3TQjCi0ZJJheClld2zGtGe4H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AlbertSans-bold.fntdata"/><Relationship Id="rId21" Type="http://schemas.openxmlformats.org/officeDocument/2006/relationships/font" Target="fonts/AlbertSans-regular.fntdata"/><Relationship Id="rId24" Type="http://schemas.openxmlformats.org/officeDocument/2006/relationships/font" Target="fonts/AlbertSans-boldItalic.fntdata"/><Relationship Id="rId23" Type="http://schemas.openxmlformats.org/officeDocument/2006/relationships/font" Target="fonts/Albert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oldman-bold.fntdata"/><Relationship Id="rId25" Type="http://schemas.openxmlformats.org/officeDocument/2006/relationships/font" Target="fonts/Goldman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6d3f298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6d3f298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4" title="Recurso 16@4x.png"/>
          <p:cNvPicPr preferRelativeResize="0"/>
          <p:nvPr/>
        </p:nvPicPr>
        <p:blipFill rotWithShape="1">
          <a:blip r:embed="rId2">
            <a:alphaModFix/>
          </a:blip>
          <a:srcRect b="0" l="3724" r="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4"/>
          <p:cNvSpPr txBox="1"/>
          <p:nvPr>
            <p:ph type="ctrTitle"/>
          </p:nvPr>
        </p:nvSpPr>
        <p:spPr>
          <a:xfrm>
            <a:off x="511925" y="490600"/>
            <a:ext cx="50250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511925" y="4098375"/>
            <a:ext cx="24093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14"/>
          <p:cNvSpPr/>
          <p:nvPr>
            <p:ph idx="2" type="pic"/>
          </p:nvPr>
        </p:nvSpPr>
        <p:spPr>
          <a:xfrm>
            <a:off x="5585650" y="691200"/>
            <a:ext cx="3469800" cy="445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565550" y="510325"/>
            <a:ext cx="4193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565550" y="1188931"/>
            <a:ext cx="419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2" type="title"/>
          </p:nvPr>
        </p:nvSpPr>
        <p:spPr>
          <a:xfrm>
            <a:off x="565550" y="1970264"/>
            <a:ext cx="4193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7" name="Google Shape;17;p15"/>
          <p:cNvSpPr txBox="1"/>
          <p:nvPr>
            <p:ph idx="3" type="subTitle"/>
          </p:nvPr>
        </p:nvSpPr>
        <p:spPr>
          <a:xfrm>
            <a:off x="565550" y="2648827"/>
            <a:ext cx="419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15" title="Recurso 18@4x.png"/>
          <p:cNvPicPr preferRelativeResize="0"/>
          <p:nvPr/>
        </p:nvPicPr>
        <p:blipFill rotWithShape="1">
          <a:blip r:embed="rId2">
            <a:alphaModFix/>
          </a:blip>
          <a:srcRect b="5176" l="659" r="5107" t="0"/>
          <a:stretch/>
        </p:blipFill>
        <p:spPr>
          <a:xfrm rot="10800000">
            <a:off x="5640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5" title="Recurso 15@4x.png"/>
          <p:cNvPicPr preferRelativeResize="0"/>
          <p:nvPr/>
        </p:nvPicPr>
        <p:blipFill rotWithShape="1">
          <a:blip r:embed="rId3">
            <a:alphaModFix/>
          </a:blip>
          <a:srcRect b="33523" l="73206" r="0" t="14243"/>
          <a:stretch/>
        </p:blipFill>
        <p:spPr>
          <a:xfrm rot="10800000">
            <a:off x="-1" y="2557150"/>
            <a:ext cx="2449976" cy="2586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5"/>
          <p:cNvSpPr/>
          <p:nvPr>
            <p:ph idx="4" type="pic"/>
          </p:nvPr>
        </p:nvSpPr>
        <p:spPr>
          <a:xfrm>
            <a:off x="4836650" y="1193325"/>
            <a:ext cx="4307400" cy="395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6" title="Recurso 17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6"/>
          <p:cNvSpPr/>
          <p:nvPr>
            <p:ph idx="2" type="pic"/>
          </p:nvPr>
        </p:nvSpPr>
        <p:spPr>
          <a:xfrm>
            <a:off x="0" y="0"/>
            <a:ext cx="2969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16"/>
          <p:cNvSpPr txBox="1"/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3505675" y="1961150"/>
            <a:ext cx="53502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7" title="Recurso 18@4x.png"/>
          <p:cNvPicPr preferRelativeResize="0"/>
          <p:nvPr/>
        </p:nvPicPr>
        <p:blipFill rotWithShape="1">
          <a:blip r:embed="rId2">
            <a:alphaModFix/>
          </a:blip>
          <a:srcRect b="0" l="616" r="0" t="0"/>
          <a:stretch/>
        </p:blipFill>
        <p:spPr>
          <a:xfrm>
            <a:off x="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7"/>
          <p:cNvSpPr txBox="1"/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subTitle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413175" y="309825"/>
            <a:ext cx="83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32" name="Google Shape;32;p18" title="Recurso 12@4x.png"/>
          <p:cNvPicPr preferRelativeResize="0"/>
          <p:nvPr/>
        </p:nvPicPr>
        <p:blipFill rotWithShape="1">
          <a:blip r:embed="rId2">
            <a:alphaModFix/>
          </a:blip>
          <a:srcRect b="52469" l="-13360" r="13360" t="4879"/>
          <a:stretch/>
        </p:blipFill>
        <p:spPr>
          <a:xfrm rot="10800000">
            <a:off x="0" y="3031655"/>
            <a:ext cx="9144003" cy="211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8" title="Recurso 15@4x.png"/>
          <p:cNvPicPr preferRelativeResize="0"/>
          <p:nvPr/>
        </p:nvPicPr>
        <p:blipFill rotWithShape="1">
          <a:blip r:embed="rId3">
            <a:alphaModFix/>
          </a:blip>
          <a:srcRect b="22600" l="72354" r="851" t="25165"/>
          <a:stretch/>
        </p:blipFill>
        <p:spPr>
          <a:xfrm>
            <a:off x="6694024" y="0"/>
            <a:ext cx="2449976" cy="258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9" title="Recurso 15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6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 txBox="1"/>
          <p:nvPr>
            <p:ph type="title"/>
          </p:nvPr>
        </p:nvSpPr>
        <p:spPr>
          <a:xfrm>
            <a:off x="413150" y="309825"/>
            <a:ext cx="833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0" title="Recurso 17@4x.png"/>
          <p:cNvPicPr preferRelativeResize="0"/>
          <p:nvPr/>
        </p:nvPicPr>
        <p:blipFill rotWithShape="1">
          <a:blip r:embed="rId2">
            <a:alphaModFix/>
          </a:blip>
          <a:srcRect b="7980" l="0" r="0" t="-7980"/>
          <a:stretch/>
        </p:blipFill>
        <p:spPr>
          <a:xfrm flipH="1" rot="10800000"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0"/>
          <p:cNvSpPr txBox="1"/>
          <p:nvPr>
            <p:ph type="title"/>
          </p:nvPr>
        </p:nvSpPr>
        <p:spPr>
          <a:xfrm>
            <a:off x="413150" y="309825"/>
            <a:ext cx="812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413150" y="1089150"/>
            <a:ext cx="81252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SemiBold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1" title="Recurso 12@4x.png"/>
          <p:cNvPicPr preferRelativeResize="0"/>
          <p:nvPr/>
        </p:nvPicPr>
        <p:blipFill rotWithShape="1">
          <a:blip r:embed="rId2">
            <a:alphaModFix/>
          </a:blip>
          <a:srcRect b="0" l="3735" r="0" t="0"/>
          <a:stretch/>
        </p:blipFill>
        <p:spPr>
          <a:xfrm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1"/>
          <p:cNvSpPr txBox="1"/>
          <p:nvPr>
            <p:ph type="title"/>
          </p:nvPr>
        </p:nvSpPr>
        <p:spPr>
          <a:xfrm>
            <a:off x="370025" y="2355600"/>
            <a:ext cx="47931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21"/>
          <p:cNvSpPr txBox="1"/>
          <p:nvPr>
            <p:ph idx="2" type="title"/>
          </p:nvPr>
        </p:nvSpPr>
        <p:spPr>
          <a:xfrm>
            <a:off x="6351100" y="152513"/>
            <a:ext cx="1268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21"/>
          <p:cNvSpPr txBox="1"/>
          <p:nvPr>
            <p:ph idx="1" type="subTitle"/>
          </p:nvPr>
        </p:nvSpPr>
        <p:spPr>
          <a:xfrm>
            <a:off x="370025" y="3937300"/>
            <a:ext cx="47931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/>
          <p:nvPr>
            <p:ph idx="3" type="pic"/>
          </p:nvPr>
        </p:nvSpPr>
        <p:spPr>
          <a:xfrm flipH="1">
            <a:off x="5195150" y="1507150"/>
            <a:ext cx="3948900" cy="297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22"/>
          <p:cNvGrpSpPr/>
          <p:nvPr/>
        </p:nvGrpSpPr>
        <p:grpSpPr>
          <a:xfrm flipH="1">
            <a:off x="-1" y="0"/>
            <a:ext cx="9144002" cy="5143500"/>
            <a:chOff x="-1" y="0"/>
            <a:chExt cx="9144002" cy="5143500"/>
          </a:xfrm>
        </p:grpSpPr>
        <p:pic>
          <p:nvPicPr>
            <p:cNvPr id="49" name="Google Shape;49;p22" title="Recurso 18@4x.png"/>
            <p:cNvPicPr preferRelativeResize="0"/>
            <p:nvPr/>
          </p:nvPicPr>
          <p:blipFill rotWithShape="1">
            <a:blip r:embed="rId2">
              <a:alphaModFix/>
            </a:blip>
            <a:srcRect b="-9102" l="735" r="5032" t="14280"/>
            <a:stretch/>
          </p:blipFill>
          <p:spPr>
            <a:xfrm rot="10800000">
              <a:off x="56400" y="0"/>
              <a:ext cx="908760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22" title="Recurso 15@4x.png"/>
            <p:cNvPicPr preferRelativeResize="0"/>
            <p:nvPr/>
          </p:nvPicPr>
          <p:blipFill rotWithShape="1">
            <a:blip r:embed="rId3">
              <a:alphaModFix/>
            </a:blip>
            <a:srcRect b="26716" l="72354" r="851" t="21049"/>
            <a:stretch/>
          </p:blipFill>
          <p:spPr>
            <a:xfrm flipH="1">
              <a:off x="-1" y="0"/>
              <a:ext cx="2449976" cy="2586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22"/>
          <p:cNvSpPr txBox="1"/>
          <p:nvPr>
            <p:ph idx="1" type="subTitle"/>
          </p:nvPr>
        </p:nvSpPr>
        <p:spPr>
          <a:xfrm>
            <a:off x="4631200" y="1223775"/>
            <a:ext cx="2743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latin typeface="Goldman"/>
                <a:ea typeface="Goldman"/>
                <a:cs typeface="Goldman"/>
                <a:sym typeface="Gold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subTitle"/>
          </p:nvPr>
        </p:nvSpPr>
        <p:spPr>
          <a:xfrm>
            <a:off x="4631200" y="2976000"/>
            <a:ext cx="2743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latin typeface="Goldman"/>
                <a:ea typeface="Goldman"/>
                <a:cs typeface="Goldman"/>
                <a:sym typeface="Gold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3" type="subTitle"/>
          </p:nvPr>
        </p:nvSpPr>
        <p:spPr>
          <a:xfrm>
            <a:off x="4631200" y="1960275"/>
            <a:ext cx="32643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4" type="subTitle"/>
          </p:nvPr>
        </p:nvSpPr>
        <p:spPr>
          <a:xfrm>
            <a:off x="4631200" y="3712400"/>
            <a:ext cx="32643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type="title"/>
          </p:nvPr>
        </p:nvSpPr>
        <p:spPr>
          <a:xfrm>
            <a:off x="413150" y="309825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6" name="Google Shape;56;p22"/>
          <p:cNvSpPr/>
          <p:nvPr>
            <p:ph idx="5" type="pic"/>
          </p:nvPr>
        </p:nvSpPr>
        <p:spPr>
          <a:xfrm>
            <a:off x="0" y="1831400"/>
            <a:ext cx="3782400" cy="244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3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type="title"/>
          </p:nvPr>
        </p:nvSpPr>
        <p:spPr>
          <a:xfrm>
            <a:off x="228600" y="4666175"/>
            <a:ext cx="3355800" cy="2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2" name="Google Shape;72;p27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9" title="Recurso 13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" y="3725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9"/>
          <p:cNvSpPr txBox="1"/>
          <p:nvPr>
            <p:ph idx="1" type="subTitle"/>
          </p:nvPr>
        </p:nvSpPr>
        <p:spPr>
          <a:xfrm>
            <a:off x="1199875" y="2181425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29"/>
          <p:cNvSpPr txBox="1"/>
          <p:nvPr>
            <p:ph idx="2" type="subTitle"/>
          </p:nvPr>
        </p:nvSpPr>
        <p:spPr>
          <a:xfrm>
            <a:off x="1199875" y="2712838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3" type="subTitle"/>
          </p:nvPr>
        </p:nvSpPr>
        <p:spPr>
          <a:xfrm>
            <a:off x="1199875" y="3244250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" name="Google Shape;79;p29"/>
          <p:cNvSpPr txBox="1"/>
          <p:nvPr>
            <p:ph idx="4" type="subTitle"/>
          </p:nvPr>
        </p:nvSpPr>
        <p:spPr>
          <a:xfrm>
            <a:off x="1199875" y="3775663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" name="Google Shape;80;p29"/>
          <p:cNvSpPr txBox="1"/>
          <p:nvPr>
            <p:ph type="title"/>
          </p:nvPr>
        </p:nvSpPr>
        <p:spPr>
          <a:xfrm>
            <a:off x="282076" y="3918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" name="Google Shape;81;p29"/>
          <p:cNvSpPr txBox="1"/>
          <p:nvPr>
            <p:ph idx="5" type="title"/>
          </p:nvPr>
        </p:nvSpPr>
        <p:spPr>
          <a:xfrm>
            <a:off x="282077" y="285541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29"/>
          <p:cNvSpPr txBox="1"/>
          <p:nvPr>
            <p:ph idx="6" type="title"/>
          </p:nvPr>
        </p:nvSpPr>
        <p:spPr>
          <a:xfrm>
            <a:off x="282905" y="2324225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3" name="Google Shape;83;p29"/>
          <p:cNvSpPr txBox="1"/>
          <p:nvPr>
            <p:ph idx="7" type="title"/>
          </p:nvPr>
        </p:nvSpPr>
        <p:spPr>
          <a:xfrm>
            <a:off x="282076" y="3386900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4" name="Google Shape;84;p29"/>
          <p:cNvSpPr txBox="1"/>
          <p:nvPr>
            <p:ph idx="8" type="subTitle"/>
          </p:nvPr>
        </p:nvSpPr>
        <p:spPr>
          <a:xfrm>
            <a:off x="1199875" y="4307075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9" type="title"/>
          </p:nvPr>
        </p:nvSpPr>
        <p:spPr>
          <a:xfrm>
            <a:off x="282076" y="44498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29"/>
          <p:cNvSpPr txBox="1"/>
          <p:nvPr>
            <p:ph idx="13" type="title"/>
          </p:nvPr>
        </p:nvSpPr>
        <p:spPr>
          <a:xfrm>
            <a:off x="5221425" y="308391"/>
            <a:ext cx="3631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89" name="Google Shape;89;p30" title="Recurso 12@4x.png"/>
          <p:cNvPicPr preferRelativeResize="0"/>
          <p:nvPr/>
        </p:nvPicPr>
        <p:blipFill rotWithShape="1">
          <a:blip r:embed="rId2">
            <a:alphaModFix/>
          </a:blip>
          <a:srcRect b="-2370" l="-24480" r="24479" t="2370"/>
          <a:stretch/>
        </p:blipFill>
        <p:spPr>
          <a:xfrm>
            <a:off x="0" y="-6"/>
            <a:ext cx="9144003" cy="495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1" title="Recurso 12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6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1"/>
          <p:cNvSpPr txBox="1"/>
          <p:nvPr>
            <p:ph idx="1" type="subTitle"/>
          </p:nvPr>
        </p:nvSpPr>
        <p:spPr>
          <a:xfrm>
            <a:off x="3079688" y="2567100"/>
            <a:ext cx="25254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2" type="subTitle"/>
          </p:nvPr>
        </p:nvSpPr>
        <p:spPr>
          <a:xfrm>
            <a:off x="413175" y="2567100"/>
            <a:ext cx="25254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3" type="subTitle"/>
          </p:nvPr>
        </p:nvSpPr>
        <p:spPr>
          <a:xfrm>
            <a:off x="5746175" y="2567100"/>
            <a:ext cx="25254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type="title"/>
          </p:nvPr>
        </p:nvSpPr>
        <p:spPr>
          <a:xfrm>
            <a:off x="3079075" y="2207050"/>
            <a:ext cx="920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31"/>
          <p:cNvSpPr txBox="1"/>
          <p:nvPr>
            <p:ph idx="4" type="title"/>
          </p:nvPr>
        </p:nvSpPr>
        <p:spPr>
          <a:xfrm>
            <a:off x="413150" y="2207261"/>
            <a:ext cx="9207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97" name="Google Shape;97;p31"/>
          <p:cNvSpPr txBox="1"/>
          <p:nvPr>
            <p:ph idx="5" type="title"/>
          </p:nvPr>
        </p:nvSpPr>
        <p:spPr>
          <a:xfrm>
            <a:off x="5746176" y="2207050"/>
            <a:ext cx="920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8" name="Google Shape;98;p31"/>
          <p:cNvSpPr txBox="1"/>
          <p:nvPr>
            <p:ph idx="6" type="title"/>
          </p:nvPr>
        </p:nvSpPr>
        <p:spPr>
          <a:xfrm>
            <a:off x="413150" y="309825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2" title="Recurso 15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191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2"/>
          <p:cNvSpPr txBox="1"/>
          <p:nvPr>
            <p:ph idx="1" type="subTitle"/>
          </p:nvPr>
        </p:nvSpPr>
        <p:spPr>
          <a:xfrm>
            <a:off x="402250" y="1902468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2" type="subTitle"/>
          </p:nvPr>
        </p:nvSpPr>
        <p:spPr>
          <a:xfrm>
            <a:off x="2854428" y="1902468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3" type="subTitle"/>
          </p:nvPr>
        </p:nvSpPr>
        <p:spPr>
          <a:xfrm>
            <a:off x="402250" y="3720925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4" type="subTitle"/>
          </p:nvPr>
        </p:nvSpPr>
        <p:spPr>
          <a:xfrm>
            <a:off x="2854428" y="3720925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5" type="subTitle"/>
          </p:nvPr>
        </p:nvSpPr>
        <p:spPr>
          <a:xfrm>
            <a:off x="5306612" y="1902468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6" type="subTitle"/>
          </p:nvPr>
        </p:nvSpPr>
        <p:spPr>
          <a:xfrm>
            <a:off x="5306612" y="3720925"/>
            <a:ext cx="218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7" type="title"/>
          </p:nvPr>
        </p:nvSpPr>
        <p:spPr>
          <a:xfrm>
            <a:off x="5316614" y="3476380"/>
            <a:ext cx="79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32"/>
          <p:cNvSpPr txBox="1"/>
          <p:nvPr>
            <p:ph idx="8" type="title"/>
          </p:nvPr>
        </p:nvSpPr>
        <p:spPr>
          <a:xfrm>
            <a:off x="5316614" y="1667875"/>
            <a:ext cx="79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0" name="Google Shape;110;p32"/>
          <p:cNvSpPr txBox="1"/>
          <p:nvPr>
            <p:ph idx="9" type="title"/>
          </p:nvPr>
        </p:nvSpPr>
        <p:spPr>
          <a:xfrm>
            <a:off x="2865118" y="1668175"/>
            <a:ext cx="7929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11" name="Google Shape;111;p32"/>
          <p:cNvSpPr txBox="1"/>
          <p:nvPr>
            <p:ph idx="13" type="title"/>
          </p:nvPr>
        </p:nvSpPr>
        <p:spPr>
          <a:xfrm>
            <a:off x="2864430" y="3476380"/>
            <a:ext cx="79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2" name="Google Shape;112;p32"/>
          <p:cNvSpPr txBox="1"/>
          <p:nvPr>
            <p:ph idx="14" type="title"/>
          </p:nvPr>
        </p:nvSpPr>
        <p:spPr>
          <a:xfrm>
            <a:off x="412252" y="1667875"/>
            <a:ext cx="79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" name="Google Shape;113;p32"/>
          <p:cNvSpPr txBox="1"/>
          <p:nvPr>
            <p:ph idx="15" type="title"/>
          </p:nvPr>
        </p:nvSpPr>
        <p:spPr>
          <a:xfrm>
            <a:off x="412252" y="3476381"/>
            <a:ext cx="79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3" title="Recurso 12@4x.png"/>
          <p:cNvPicPr preferRelativeResize="0"/>
          <p:nvPr/>
        </p:nvPicPr>
        <p:blipFill rotWithShape="1">
          <a:blip r:embed="rId2">
            <a:alphaModFix/>
          </a:blip>
          <a:srcRect b="0" l="-8566" r="12302" t="0"/>
          <a:stretch/>
        </p:blipFill>
        <p:spPr>
          <a:xfrm rot="10800000"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3"/>
          <p:cNvSpPr txBox="1"/>
          <p:nvPr>
            <p:ph type="title"/>
          </p:nvPr>
        </p:nvSpPr>
        <p:spPr>
          <a:xfrm>
            <a:off x="565550" y="504650"/>
            <a:ext cx="5090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7" name="Google Shape;117;p33"/>
          <p:cNvSpPr txBox="1"/>
          <p:nvPr>
            <p:ph idx="1" type="subTitle"/>
          </p:nvPr>
        </p:nvSpPr>
        <p:spPr>
          <a:xfrm>
            <a:off x="565550" y="1563350"/>
            <a:ext cx="44481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3"/>
          <p:cNvSpPr txBox="1"/>
          <p:nvPr/>
        </p:nvSpPr>
        <p:spPr>
          <a:xfrm>
            <a:off x="5766950" y="3377025"/>
            <a:ext cx="297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b="0" i="0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news.microsoft.com/source/latam/noticias-de-microsoft/encuesta-pymes-2025-54-de-las-pymes-en-las-americas-usa-ia/#:~:text=Las%20peque%C3%B1as%20y%20medianas%20empresas,mantengan%20su%20competitividad%20y%20eficiencia" TargetMode="External"/><Relationship Id="rId4" Type="http://schemas.openxmlformats.org/officeDocument/2006/relationships/hyperlink" Target="https://www.bbva.mx/educacion-financiera/creditos/credito-pyme-porcentaje-pymes-en-mexico.html" TargetMode="External"/><Relationship Id="rId9" Type="http://schemas.openxmlformats.org/officeDocument/2006/relationships/hyperlink" Target="https://news.microsoft.com/source/latam/noticias-de-microsoft/encuesta-pymes-2025-54-de-las-pymes-en-las-americas-usa-ia/#:~:text=Las%20peque%C3%B1as%20y%20medianas%20empresas,mantengan%20su%20competitividad%20y%20eficiencia" TargetMode="External"/><Relationship Id="rId5" Type="http://schemas.openxmlformats.org/officeDocument/2006/relationships/hyperlink" Target="https://news.microsoft.com/es-xl/la-ia-se-posiciona-como-una-prioridad-para-las-pymes-mexicanas/#:~:text=micro%2C%20peque%C3%B1as%20y%20medianas%20empresas%3A,y%20concentrarse%20en%20actividades%20cr%C3%ADticas" TargetMode="External"/><Relationship Id="rId6" Type="http://schemas.openxmlformats.org/officeDocument/2006/relationships/hyperlink" Target="https://esemanal.mx/2023/11/el-54-7-de-las-pymes-mexicanas-ya-utilizan-ia-generativa-neubox/?__cf_chl_tk=J31oWVRH0BhftWrfeI_SucVRCN7FYQ8950FoAomZDKQ-1749410429-1.0.1.1-wbCneoq0Sl3lG34y7h5.9BndMwWwtFcvjbah1u0g75s" TargetMode="External"/><Relationship Id="rId7" Type="http://schemas.openxmlformats.org/officeDocument/2006/relationships/hyperlink" Target="https://www.gob.mx/cms/uploads/attachment/file/923851/20240626_Dosier_MIPYMES_SALIDA_Interactivo_5_.pdf" TargetMode="External"/><Relationship Id="rId8" Type="http://schemas.openxmlformats.org/officeDocument/2006/relationships/hyperlink" Target="https://es.beincrypto.com/bid-pymes-latam-utilizan-chatgpt-marketing-automatizar-tareas/#:~:text=,pro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" title="futuristic-robot-listening-music-headphones3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23" l="2426" r="2425" t="14807"/>
          <a:stretch/>
        </p:blipFill>
        <p:spPr>
          <a:xfrm>
            <a:off x="5585650" y="691200"/>
            <a:ext cx="3469799" cy="44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>
            <p:ph type="ctrTitle"/>
          </p:nvPr>
        </p:nvSpPr>
        <p:spPr>
          <a:xfrm>
            <a:off x="511925" y="490600"/>
            <a:ext cx="54516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Aplicaciones de GenAI para Pequeñas Empresas Mexicanas</a:t>
            </a:r>
            <a:endParaRPr sz="3800"/>
          </a:p>
        </p:txBody>
      </p:sp>
      <p:sp>
        <p:nvSpPr>
          <p:cNvPr id="127" name="Google Shape;127;p1"/>
          <p:cNvSpPr txBox="1"/>
          <p:nvPr>
            <p:ph idx="1" type="subTitle"/>
          </p:nvPr>
        </p:nvSpPr>
        <p:spPr>
          <a:xfrm>
            <a:off x="1845500" y="4098750"/>
            <a:ext cx="38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Goldman"/>
                <a:ea typeface="Goldman"/>
                <a:cs typeface="Goldman"/>
                <a:sym typeface="Goldman"/>
              </a:rPr>
              <a:t>Enrique Ulises Báez Gómez Tagle</a:t>
            </a:r>
            <a:endParaRPr>
              <a:latin typeface="Goldman"/>
              <a:ea typeface="Goldman"/>
              <a:cs typeface="Goldman"/>
              <a:sym typeface="Gold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Goldman"/>
                <a:ea typeface="Goldman"/>
                <a:cs typeface="Goldman"/>
                <a:sym typeface="Goldman"/>
              </a:rPr>
              <a:t>0241823@up.edu.mx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pic>
        <p:nvPicPr>
          <p:cNvPr id="128" name="Google Shape;128;p1" title="Diseño sin título.png"/>
          <p:cNvPicPr preferRelativeResize="0"/>
          <p:nvPr/>
        </p:nvPicPr>
        <p:blipFill rotWithShape="1">
          <a:blip r:embed="rId4">
            <a:alphaModFix/>
          </a:blip>
          <a:srcRect b="21166" l="5440" r="50685" t="0"/>
          <a:stretch/>
        </p:blipFill>
        <p:spPr>
          <a:xfrm>
            <a:off x="226250" y="3381975"/>
            <a:ext cx="1428475" cy="144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 b="0" l="0" r="0" t="15625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/>
          <p:nvPr/>
        </p:nvSpPr>
        <p:spPr>
          <a:xfrm>
            <a:off x="2443525" y="2639350"/>
            <a:ext cx="4316700" cy="991800"/>
          </a:xfrm>
          <a:prstGeom prst="rect">
            <a:avLst/>
          </a:prstGeom>
          <a:solidFill>
            <a:srgbClr val="B885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2413650" y="2627350"/>
            <a:ext cx="431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rPr>
              <a:t>¿Y si ese ayudante fuera una inteligencia artificial?</a:t>
            </a:r>
            <a:endParaRPr b="1" i="0" sz="2700" u="none" cap="none" strike="noStrike">
              <a:solidFill>
                <a:srgbClr val="19191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178025" y="4051700"/>
            <a:ext cx="4316700" cy="738900"/>
          </a:xfrm>
          <a:prstGeom prst="rect">
            <a:avLst/>
          </a:prstGeom>
          <a:solidFill>
            <a:srgbClr val="8A4A1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Así empieza el cambio para las pequeñas empresas mexicanas</a:t>
            </a:r>
            <a:endParaRPr b="1" i="1" sz="18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type="title"/>
          </p:nvPr>
        </p:nvSpPr>
        <p:spPr>
          <a:xfrm>
            <a:off x="405775" y="1664100"/>
            <a:ext cx="2219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/>
              <a:t>99.8%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las empresas en México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5041150" y="1515075"/>
            <a:ext cx="2462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rPr>
              <a:t>~68.4% </a:t>
            </a:r>
            <a:r>
              <a:rPr b="0" i="0" lang="en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del empleo formal.￼</a:t>
            </a:r>
            <a:endParaRPr b="0" i="0" sz="4500" u="none" cap="none" strike="noStrike">
              <a:solidFill>
                <a:schemeClr val="lt2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pic>
        <p:nvPicPr>
          <p:cNvPr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525" y="2827325"/>
            <a:ext cx="4186801" cy="235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2854387" y="1515075"/>
            <a:ext cx="2077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rPr>
              <a:t>27M</a:t>
            </a:r>
            <a:endParaRPr b="0" i="0" sz="4500" u="none" cap="none" strike="noStrike">
              <a:solidFill>
                <a:schemeClr val="lt2"/>
              </a:solidFill>
              <a:latin typeface="Goldman"/>
              <a:ea typeface="Goldman"/>
              <a:cs typeface="Goldman"/>
              <a:sym typeface="Gold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personas empleadas.￼</a:t>
            </a:r>
            <a:endParaRPr b="0" i="0" sz="4500" u="none" cap="none" strike="noStrike">
              <a:solidFill>
                <a:schemeClr val="lt2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2710425" y="416875"/>
            <a:ext cx="3135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n" sz="4700" u="none" cap="none" strike="noStrik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rPr>
              <a:t>MiPyMEs</a:t>
            </a:r>
            <a:endParaRPr b="0" i="0" sz="4700" u="none" cap="none" strike="noStrike">
              <a:solidFill>
                <a:schemeClr val="lt2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cxnSp>
        <p:nvCxnSpPr>
          <p:cNvPr id="146" name="Google Shape;146;p3"/>
          <p:cNvCxnSpPr/>
          <p:nvPr/>
        </p:nvCxnSpPr>
        <p:spPr>
          <a:xfrm>
            <a:off x="2682675" y="1555325"/>
            <a:ext cx="9300" cy="11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3"/>
          <p:cNvCxnSpPr/>
          <p:nvPr/>
        </p:nvCxnSpPr>
        <p:spPr>
          <a:xfrm>
            <a:off x="4922575" y="1555325"/>
            <a:ext cx="9300" cy="11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156750" y="124550"/>
            <a:ext cx="66270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IA generativa: una herramienta, no una amenaza</a:t>
            </a:r>
            <a:endParaRPr/>
          </a:p>
        </p:txBody>
      </p:sp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 b="12240" l="3601" r="68734" t="38323"/>
          <a:stretch/>
        </p:blipFill>
        <p:spPr>
          <a:xfrm>
            <a:off x="1071175" y="1677975"/>
            <a:ext cx="1500499" cy="178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 b="15052" l="67428" r="3462" t="38038"/>
          <a:stretch/>
        </p:blipFill>
        <p:spPr>
          <a:xfrm>
            <a:off x="6499125" y="1723638"/>
            <a:ext cx="1578801" cy="169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696750" y="3578775"/>
            <a:ext cx="775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Modelos capaces de crear texto, imágenes, audio o código de forma autónoma a partir de contenido existente.</a:t>
            </a:r>
            <a:endParaRPr b="1" i="0" sz="21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56" name="Google Shape;156;p4" title="En México, el 99.8% de las empresas son MiPyMEs. Dan empleo a casi 27 millones de personas y representan más de dos tercios del empleo formal. Pero también son las que menos recursos y conocimient.png"/>
          <p:cNvPicPr preferRelativeResize="0"/>
          <p:nvPr/>
        </p:nvPicPr>
        <p:blipFill rotWithShape="1">
          <a:blip r:embed="rId4">
            <a:alphaModFix/>
          </a:blip>
          <a:srcRect b="25191" l="26675" r="49899" t="22734"/>
          <a:stretch/>
        </p:blipFill>
        <p:spPr>
          <a:xfrm>
            <a:off x="3645475" y="1413188"/>
            <a:ext cx="1853050" cy="231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" title="adoption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2925" y="407500"/>
            <a:ext cx="6314675" cy="47360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140900" y="4653625"/>
            <a:ext cx="389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Estudio realizado por Microsoft Latam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" title="obstacles.gif"/>
          <p:cNvPicPr preferRelativeResize="0"/>
          <p:nvPr/>
        </p:nvPicPr>
        <p:blipFill rotWithShape="1">
          <a:blip r:embed="rId3">
            <a:alphaModFix/>
          </a:blip>
          <a:srcRect b="10944" l="12168" r="9772" t="12024"/>
          <a:stretch/>
        </p:blipFill>
        <p:spPr>
          <a:xfrm>
            <a:off x="3" y="0"/>
            <a:ext cx="5212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5477325" y="1678950"/>
            <a:ext cx="3435000" cy="178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63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Principales obstáculos en la implementación de la IA generativa</a:t>
            </a:r>
            <a:endParaRPr b="0" i="0" sz="2600" u="none" cap="none" strike="noStrike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4619950" y="2579900"/>
            <a:ext cx="3646500" cy="2116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33AAD"/>
              </a:gs>
              <a:gs pos="100000">
                <a:srgbClr val="321D4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Cómo empezar:</a:t>
            </a:r>
            <a:endParaRPr b="1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    Usa ChatGPT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Explora Canva AI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Automatiza correos con herramientas simples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14300" y="159500"/>
            <a:ext cx="8388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¿Tú, </a:t>
            </a:r>
            <a:endParaRPr b="0" i="0" sz="3200" u="none" cap="none" strike="noStrike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rPr>
              <a:t>cómo usarías IA </a:t>
            </a:r>
            <a:endParaRPr b="0" i="0" sz="4000" u="none" cap="none" strike="noStrike">
              <a:solidFill>
                <a:schemeClr val="lt2"/>
              </a:solidFill>
              <a:latin typeface="Goldman"/>
              <a:ea typeface="Goldman"/>
              <a:cs typeface="Goldman"/>
              <a:sym typeface="Gold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en tu futuro negocio?</a:t>
            </a:r>
            <a:endParaRPr b="0" i="0" sz="3200" u="none" cap="none" strike="noStrike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79550" y="2273000"/>
            <a:ext cx="3705000" cy="2116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E9EFA"/>
              </a:gs>
              <a:gs pos="100000">
                <a:srgbClr val="2929E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Habilidades que necesitas:</a:t>
            </a:r>
            <a:endParaRPr b="1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🫡 Dar buenas instrucciones (“prompts”)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📝 Evaluar resultados de IA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🔁 Detectar procesos repetitivos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050" y="3671492"/>
            <a:ext cx="204525" cy="2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4">
            <a:alphaModFix/>
          </a:blip>
          <a:srcRect b="12371" l="29162" r="29061" t="12054"/>
          <a:stretch/>
        </p:blipFill>
        <p:spPr>
          <a:xfrm>
            <a:off x="5269864" y="3427850"/>
            <a:ext cx="228900" cy="204600"/>
          </a:xfrm>
          <a:prstGeom prst="flowChartConnector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8011" y="3915075"/>
            <a:ext cx="232601" cy="23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idx="1" type="body"/>
          </p:nvPr>
        </p:nvSpPr>
        <p:spPr>
          <a:xfrm>
            <a:off x="351175" y="2008550"/>
            <a:ext cx="51741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Problema: </a:t>
            </a:r>
            <a:r>
              <a:rPr lang="en"/>
              <a:t>No sabían cómo hacer sus publicaciones más atractivas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Solución: </a:t>
            </a:r>
            <a:r>
              <a:rPr lang="en"/>
              <a:t>Usan ChatGPT para generar captions creativos en sus campañas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Resultado: </a:t>
            </a:r>
            <a:r>
              <a:rPr lang="en"/>
              <a:t>Captions más divertidos, promos más compartidas, más tráfico a tienda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84" name="Google Shape;184;p8" title="Screenshot 2025-06-09 at 8.20.16 p.m.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874" y="438450"/>
            <a:ext cx="3359673" cy="3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000" y="207675"/>
            <a:ext cx="3609326" cy="16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6300" y="3316950"/>
            <a:ext cx="2744299" cy="125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 rotWithShape="1">
          <a:blip r:embed="rId6">
            <a:alphaModFix/>
          </a:blip>
          <a:srcRect b="28786" l="0" r="0" t="26879"/>
          <a:stretch/>
        </p:blipFill>
        <p:spPr>
          <a:xfrm>
            <a:off x="1392625" y="4060875"/>
            <a:ext cx="2675827" cy="6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9" title="Image 39088827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675" y="405975"/>
            <a:ext cx="4113000" cy="4113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128775" y="1506513"/>
            <a:ext cx="48429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Problema: </a:t>
            </a:r>
            <a:r>
              <a:rPr lang="en"/>
              <a:t>Buscaban lanzar una marca auténtica, pero no sabían por dónde empezar con el concepto ni la estrategia.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Usaron Gemini para: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Explorar ideas de nombres.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Redactar frases originales para sus prendas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Diseñar la estrategia de marketing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"/>
              <a:t>Resultado: </a:t>
            </a:r>
            <a:r>
              <a:rPr lang="en"/>
              <a:t>Una marca que refleja emociones reales y conecta con su audiencia joven.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2600" y="3629600"/>
            <a:ext cx="1855250" cy="1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 title="alee logo blanc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950" y="-609025"/>
            <a:ext cx="3146250" cy="31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66d3f29854_0_0" title="main_use_cases.gif"/>
          <p:cNvPicPr preferRelativeResize="0"/>
          <p:nvPr/>
        </p:nvPicPr>
        <p:blipFill rotWithShape="1">
          <a:blip r:embed="rId3">
            <a:alphaModFix/>
          </a:blip>
          <a:srcRect b="17968" l="18266" r="9930" t="20955"/>
          <a:stretch/>
        </p:blipFill>
        <p:spPr>
          <a:xfrm>
            <a:off x="0" y="1061712"/>
            <a:ext cx="5383770" cy="22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66d3f29854_0_0" title="key_benefits.gif"/>
          <p:cNvPicPr preferRelativeResize="0"/>
          <p:nvPr/>
        </p:nvPicPr>
        <p:blipFill/>
        <p:spPr>
          <a:xfrm>
            <a:off x="4046919" y="403575"/>
            <a:ext cx="5097080" cy="447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6d3f29854_0_0"/>
          <p:cNvSpPr txBox="1"/>
          <p:nvPr/>
        </p:nvSpPr>
        <p:spPr>
          <a:xfrm>
            <a:off x="412150" y="3438975"/>
            <a:ext cx="3435300" cy="1293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Las PyMEs mexicanas están adoptando la IA para ser más competitivas. ¿Estás listo para integrar IA en tu negocio?</a:t>
            </a:r>
            <a:endParaRPr b="1"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3" name="Google Shape;203;g366d3f29854_0_0"/>
          <p:cNvSpPr txBox="1"/>
          <p:nvPr/>
        </p:nvSpPr>
        <p:spPr>
          <a:xfrm>
            <a:off x="-1" y="892075"/>
            <a:ext cx="46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Principales usos de la AI generativa en PyMEs en México</a:t>
            </a:r>
            <a:endParaRPr b="1" i="1"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4" name="Google Shape;204;g366d3f29854_0_0"/>
          <p:cNvSpPr txBox="1"/>
          <p:nvPr/>
        </p:nvSpPr>
        <p:spPr>
          <a:xfrm>
            <a:off x="165000" y="0"/>
            <a:ext cx="527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Usos y Beneficios Clave de la IA Generativa en PyMEs Mexicanas</a:t>
            </a:r>
            <a:endParaRPr sz="2100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05" name="Google Shape;205;g366d3f29854_0_0"/>
          <p:cNvSpPr txBox="1"/>
          <p:nvPr/>
        </p:nvSpPr>
        <p:spPr>
          <a:xfrm>
            <a:off x="4523510" y="49575"/>
            <a:ext cx="414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Beneficios Clave de la IA Generativa</a:t>
            </a:r>
            <a:endParaRPr b="1" i="1"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1" title="Diseño sin título (1).png"/>
          <p:cNvPicPr preferRelativeResize="0"/>
          <p:nvPr/>
        </p:nvPicPr>
        <p:blipFill rotWithShape="1">
          <a:blip r:embed="rId3">
            <a:alphaModFix/>
          </a:blip>
          <a:srcRect b="25983" l="25565" r="26135" t="25257"/>
          <a:stretch/>
        </p:blipFill>
        <p:spPr>
          <a:xfrm>
            <a:off x="-29500" y="108450"/>
            <a:ext cx="9144000" cy="519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605575" y="173575"/>
            <a:ext cx="7024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Tu próximo socio no es un humano… es un modelo de lenguaje</a:t>
            </a:r>
            <a:endParaRPr b="0" i="0" sz="2900" u="none" cap="none" strike="noStrike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6040400" y="3076050"/>
            <a:ext cx="307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rPr>
              <a:t> ¿Vas a dejar que la competencia te gane con IA?</a:t>
            </a:r>
            <a:endParaRPr b="0" i="0" sz="1600" u="none" cap="none" strike="noStrike">
              <a:solidFill>
                <a:schemeClr val="dk1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3846775" y="2917300"/>
            <a:ext cx="1710000" cy="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>
            <p:ph type="title"/>
          </p:nvPr>
        </p:nvSpPr>
        <p:spPr>
          <a:xfrm>
            <a:off x="413150" y="309825"/>
            <a:ext cx="812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413150" y="1089150"/>
            <a:ext cx="7996500" cy="3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https://news.microsoft.com/source/latam/noticias-de-microsoft/encuesta-pymes-2025-54-de-las-pymes-en-las-americas-usa-ia/#:~:text=Las%20peque%C3%B1as%20y%20medianas%20empresas,mantengan%20su%20competitividad%20y%20eficiencia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https://www.bbva.mx/educacion-financiera/creditos/credito-pyme-porcentaje-pymes-en-mexico.html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https://news.microsoft.com/es-xl/la-ia-se-posiciona-como-una-prioridad-para-las-pymes-mexicanas/#:~:text=micro%2C%20peque%C3%B1as%20y%20medianas%20empresas%3A,y%20concentrarse%20en%20actividades%20cr%C3%ADticas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https://esemanal.mx/2023/11/el-54-7-de-las-pymes-mexicanas-ya-utilizan-ia-generativa-neubox/?__cf_chl_tk=J31oWVRH0BhftWrfeI_SucVRCN7FYQ8950FoAomZDKQ-1749410429-1.0.1.1-wbCneoq0Sl3lG34y7h5.9BndMwWwtFcvjbah1u0g75s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https://www.gob.mx/cms/uploads/attachment/file/923851/20240626_Dosier_MIPYMES_SALIDA_Interactivo_5_.pdf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https://es.beincrypto.com/bid-pymes-latam-utilizan-chatgpt-marketing-automatizar-tareas/#:~:text=,promo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https://news.microsoft.com/source/latam/noticias-de-microsoft/encuesta-pymes-2025-54-de-las-pymes-en-las-americas-usa-ia/#:~:text=Las%20peque%C3%B1as%20y%20medianas%20empresas,mantengan%20su%20competitividad%20y%20eficiencia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https://www.oecd.org/es/publications/indice-de-politicas-para-pymes-america-latina-y-el-caribe-2024_807e9eaf-es.html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